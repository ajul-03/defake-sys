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7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24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1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4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2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80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3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1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3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52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367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Deepfake Video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Objective: Automate the process of fake video detection using state-of-the-art Neural Networks.</a:t>
            </a:r>
          </a:p>
          <a:p>
            <a:r>
              <a:rPr lang="en-US"/>
              <a:t>Scope: The project covers data preprocessing, model training, a backend for serving predictions, and a modern frontend interface for user interaction.</a:t>
            </a:r>
          </a:p>
          <a:p>
            <a:r>
              <a:rPr lang="en-US"/>
              <a:t>Outcome: A web application where users can upload videos and receive an instant classification of REAL or FAKE along with a confidence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With the rapid advancement of Generative AI, creating hyper-realistic fake videos (deepfakes) has become easily accessible.</a:t>
            </a:r>
          </a:p>
          <a:p>
            <a:r>
              <a:rPr lang="en-US"/>
              <a:t>Deepfakes can be used maliciously for misinformation, identity theft, political manipulation, and financial fraud.</a:t>
            </a:r>
          </a:p>
          <a:p>
            <a:r>
              <a:rPr lang="en-US"/>
              <a:t>Human eyes can no longer reliably distinguish between authentic and manipulated media.</a:t>
            </a:r>
          </a:p>
          <a:p>
            <a:r>
              <a:rPr lang="en-US"/>
              <a:t>There is a critical need for an automated, highly accurate tool to analyze and detect these manipulated temporal and spatial artifacts in videos.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Project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Security &amp; Trust: To restore trust in digital media by providing a reliable verification mechanism.</a:t>
            </a:r>
          </a:p>
          <a:p>
            <a:r>
              <a:rPr lang="en-US"/>
              <a:t>Scalability: Manual verification is impossible at the scale of modern social media; automated deep learning models can process videos in seconds.</a:t>
            </a:r>
          </a:p>
          <a:p>
            <a:r>
              <a:rPr lang="en-US"/>
              <a:t>Protection: To protect individuals and public figures from digital impersonation.</a:t>
            </a:r>
          </a:p>
          <a:p>
            <a:r>
              <a:rPr lang="en-US"/>
              <a:t>Accessibility: Providing a clear, user-friendly interface allows non-technical users to verify video authenticity easily.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Frontend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IN"/>
              <a:t>Technologies Used:</a:t>
            </a:r>
          </a:p>
          <a:p>
            <a:pPr lvl="1"/>
            <a:r>
              <a:rPr lang="en-IN"/>
              <a:t>React 19 (via Vite): For building the user interface.</a:t>
            </a:r>
          </a:p>
          <a:p>
            <a:pPr lvl="1"/>
            <a:r>
              <a:rPr lang="en-IN"/>
              <a:t>Tailwind CSS: For utility-first, modern, and responsive styling.</a:t>
            </a:r>
          </a:p>
          <a:p>
            <a:pPr lvl="1"/>
            <a:r>
              <a:rPr lang="en-IN"/>
              <a:t>Framer Motion: For smooth and dynamic animations.</a:t>
            </a:r>
          </a:p>
          <a:p>
            <a:pPr lvl="1"/>
            <a:r>
              <a:rPr lang="en-IN"/>
              <a:t>React Dropzone: For handling drag-and-drop video uploads effortlessly.</a:t>
            </a:r>
          </a:p>
          <a:p>
            <a:pPr lvl="1"/>
            <a:r>
              <a:rPr lang="en-IN"/>
              <a:t>Axios: For making HTTP requests to the backend API.</a:t>
            </a:r>
          </a:p>
          <a:p>
            <a:pPr lvl="1"/>
            <a:r>
              <a:rPr lang="en-IN"/>
              <a:t>Lucide React: For scalable and beautiful icons.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Why Those Frontend Technologies Were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1"/>
            <a:r>
              <a:rPr lang="en-IN"/>
              <a:t>React &amp; Vite: Fast development server (Vite) and component-based architecture (React) allow for a highly interactive and modular UI.</a:t>
            </a:r>
          </a:p>
          <a:p>
            <a:pPr lvl="1"/>
            <a:r>
              <a:rPr lang="en-IN"/>
              <a:t>Tailwind CSS: Rapid UI development. It allows for a premium aesthetic (dark modes, gradients, glassmorphism) without leaving the HTML.</a:t>
            </a:r>
          </a:p>
          <a:p>
            <a:pPr lvl="1"/>
            <a:r>
              <a:rPr lang="en-IN"/>
              <a:t>Framer Motion: Adds a premium feel with micro-animations that make the application feel responsive and alive.</a:t>
            </a:r>
          </a:p>
          <a:p>
            <a:pPr lvl="1"/>
            <a:r>
              <a:rPr lang="en-IN"/>
              <a:t>Axios: Simplifies handling async API requests and file uploads (FormData).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the Frontend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1"/>
            <a:r>
              <a:rPr lang="en-US"/>
              <a:t>The application loads a single-page interface with a futuristic, dark-themed aesthetic.</a:t>
            </a:r>
          </a:p>
          <a:p>
            <a:pPr lvl="1"/>
            <a:r>
              <a:rPr lang="en-US"/>
              <a:t>The main component is an upload zone (powered by React Dropzone) that accepts .mp4 and .avi files.</a:t>
            </a:r>
          </a:p>
          <a:p>
            <a:pPr lvl="1"/>
            <a:r>
              <a:rPr lang="en-US"/>
              <a:t>Once a file is dropped, the frontend displays file metadata, a 'processing' state with animations.</a:t>
            </a:r>
          </a:p>
          <a:p>
            <a:pPr lvl="1"/>
            <a:r>
              <a:rPr lang="en-US"/>
              <a:t>It sends the file via an Axios POST request using FormData to the backend /predict endpoint.</a:t>
            </a:r>
          </a:p>
          <a:p>
            <a:pPr lvl="1"/>
            <a:r>
              <a:rPr lang="en-US"/>
              <a:t>Upon receiving the response, it transitions to a Results view, displaying 'REAL' or 'FAKE' and a confidence 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User Interface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1. Landing / Upload: User opens the app. A sleek drag-and-drop zone prompts the user.</a:t>
            </a:r>
          </a:p>
          <a:p>
            <a:r>
              <a:rPr lang="en-US"/>
              <a:t>2. File Selection: User drops a video file. The UI validates the file and shows its details.</a:t>
            </a:r>
          </a:p>
          <a:p>
            <a:r>
              <a:rPr lang="en-US"/>
              <a:t>3. Processing: User clicks 'Analyze Video'. The UI shows a loading state with spinner.</a:t>
            </a:r>
          </a:p>
          <a:p>
            <a:r>
              <a:rPr lang="en-US"/>
              <a:t>4. Backend API Call: Video is sent to the backend endpoint.</a:t>
            </a:r>
          </a:p>
          <a:p>
            <a:r>
              <a:rPr lang="en-US"/>
              <a:t>5. Result Display: The system reveals the prediction (Real/Fake) along with a percentage confidence bar.</a:t>
            </a:r>
          </a:p>
          <a:p>
            <a:r>
              <a:rPr lang="en-US"/>
              <a:t>6. Reset: User can click 'Upload Another Video' to test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Backend Detailed Explanation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The backend is built in Python and is responsible for two major pipelines:</a:t>
            </a:r>
          </a:p>
          <a:p>
            <a:endParaRPr lang="en-US"/>
          </a:p>
          <a:p>
            <a:r>
              <a:rPr lang="en-US"/>
              <a:t>1. Model Training Pipeline: Scripts to preprocess data, extract faces, and train the deep learning model.</a:t>
            </a:r>
          </a:p>
          <a:p>
            <a:r>
              <a:rPr lang="en-US"/>
              <a:t>2. Inference / API Pipeline: A Flask server that loads the trained model, receives user videos, processes them, and returns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File: app.py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The main entry point for the Flask web server.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Initializes a Flask app and configures Cross-Origin Resource Sharing (CORS).</a:t>
            </a:r>
          </a:p>
          <a:p>
            <a:pPr lvl="1"/>
            <a:r>
              <a:rPr lang="en-US"/>
              <a:t>Defines a /predict POST route that receives the video from the frontend, saves it temporarily, and calls model_utils.predict_video().</a:t>
            </a:r>
          </a:p>
          <a:p>
            <a:pPr lvl="1"/>
            <a:r>
              <a:rPr lang="en-US"/>
              <a:t>Returns the prediction result (Real/Fake, Confidence) as a JSON response.</a:t>
            </a:r>
          </a:p>
          <a:p>
            <a:r>
              <a:rPr lang="en-US"/>
              <a:t>Why it is necessary: Acts as the bridge between the user's web browser (frontend) and the heavy deep learning inference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File: config.py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Centralizes all configuration variables, paths, and hyperparameters.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Defines absolute directory paths for the real dataset, fake dataset, and processed .npy data.</a:t>
            </a:r>
          </a:p>
          <a:p>
            <a:pPr lvl="1"/>
            <a:r>
              <a:rPr lang="en-US"/>
              <a:t>Sets critical model hyperparameters: IMG_SIZE = (299, 299), FRAME_COUNT = 20, BATCH_SIZE = 2, EPOCHS, and LEARNING_RATE.</a:t>
            </a:r>
          </a:p>
          <a:p>
            <a:r>
              <a:rPr lang="en-US"/>
              <a:t>Why it is necessary: Keeps the codebase clean. Modifying hyperparameters or file paths requires a single change in this file instead of hunting through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Backend File: debug_files.py &amp; debug_mtcnn.py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Troubleshooting and environment validation scripts.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debug_files.py: Checks if the fake video directories exist and counts the .mp4 files using glob.</a:t>
            </a:r>
          </a:p>
          <a:p>
            <a:pPr lvl="1"/>
            <a:r>
              <a:rPr lang="en-US"/>
              <a:t>debug_mtcnn.py: Attempts to import the MTCNN library and initialize the face detector to ensure the environment is set up correctly.</a:t>
            </a:r>
          </a:p>
          <a:p>
            <a:r>
              <a:rPr lang="en-US"/>
              <a:t>Why it is necessary: Crucial for debugging paths and dependency issues on new environments before running long training scripts.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File: model_utils.py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Contains the core Deep Learning architecture and inference logic.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build_model(): Constructs the complex model using EfficientNetB0, TimeDistributed wrappers, Spatial Dropout, Bidirectional LSTM, and Custom Attention Layer.</a:t>
            </a:r>
          </a:p>
          <a:p>
            <a:pPr lvl="1"/>
            <a:r>
              <a:rPr lang="en-US"/>
              <a:t>predict_video(): Takes a raw video path, calls preprocessing, runs the tensor through the loaded model, and calculates the confidence score.</a:t>
            </a:r>
          </a:p>
          <a:p>
            <a:r>
              <a:rPr lang="en-US"/>
              <a:t>Why it is necessary: It houses the actual 'brain' of the project. Without this file, the complex neural network structure would not exist.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File: preprocess.py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Real-time video processing and face extraction.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extract_multiple_clips(): Divides a video into multiple segments and extracts a uniform sequence of frames (e.g., 20 frames per clip).</a:t>
            </a:r>
          </a:p>
          <a:p>
            <a:pPr lvl="1"/>
            <a:r>
              <a:rPr lang="en-US"/>
              <a:t>detect_and_crop_faces(): Scans frames, uses OpenCV Haar Cascades to detect the largest face, crops it with a margin, and normalizes pixel values to [0, 1].</a:t>
            </a:r>
          </a:p>
          <a:p>
            <a:r>
              <a:rPr lang="en-US"/>
              <a:t>Why it is necessary: Neural networks require consistent data. This ensures every video is formatted as a sequence of 20 aligned, cropped faces.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Backend File: preprocess_dataset.py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Offline data preparation for training.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Scans the massive dataset of REAL and FAKE videos defined in config.py.</a:t>
            </a:r>
          </a:p>
          <a:p>
            <a:pPr lvl="1"/>
            <a:r>
              <a:rPr lang="en-US"/>
              <a:t>Uses preprocess.py to extract multiple facial clips from every video.</a:t>
            </a:r>
          </a:p>
          <a:p>
            <a:pPr lvl="1"/>
            <a:r>
              <a:rPr lang="en-US"/>
              <a:t>Saves these preprocessed 4D NumPy arrays to the disk as .npy files.</a:t>
            </a:r>
          </a:p>
          <a:p>
            <a:r>
              <a:rPr lang="en-US"/>
              <a:t>Why it is necessary: Preprocessing during training bottlenecks the GPU. Doing it offline and saving .npy arrays vastly speeds up training loops.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Backend File: train.py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The main script mapping data generation and training execution.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Uses an AugmentedDataGenerator to dynamically load batches into memory, applying runtime data augmentation (flipping, brightness, noise).</a:t>
            </a:r>
          </a:p>
          <a:p>
            <a:pPr lvl="1"/>
            <a:r>
              <a:rPr lang="en-US"/>
              <a:t>Compiles the model using Callbacks like ModelCheckpoint, ReduceLROnPlateau, and EarlyStopping.</a:t>
            </a:r>
          </a:p>
          <a:p>
            <a:pPr lvl="1"/>
            <a:r>
              <a:rPr lang="en-US"/>
              <a:t>Fits the model and plots validation accuracy/loss charts.</a:t>
            </a:r>
          </a:p>
          <a:p>
            <a:r>
              <a:rPr lang="en-US"/>
              <a:t>Why it is necessary: Responsible for finding the optimal weights for fake detection, generating the model_weights.h5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File: test_generator.py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Purpose: Validates the custom Data Generator.</a:t>
            </a:r>
          </a:p>
          <a:p>
            <a:r>
              <a:rPr lang="en-US"/>
              <a:t>How it works:</a:t>
            </a:r>
          </a:p>
          <a:p>
            <a:pPr lvl="1"/>
            <a:r>
              <a:rPr lang="en-US"/>
              <a:t>Instantiates the VideoDataGenerator from train.py using a tiny subset of the preprocessed dataset.</a:t>
            </a:r>
          </a:p>
          <a:p>
            <a:pPr lvl="1"/>
            <a:r>
              <a:rPr lang="en-US"/>
              <a:t>Attempts to fetch a sample batch to verify shapes (e.g., (Batch Size, 20, 299, 299, 3)).</a:t>
            </a:r>
          </a:p>
          <a:p>
            <a:r>
              <a:rPr lang="en-US"/>
              <a:t>Why it is necessary: Confirms that dynamic data loading works flawlessly before committing to a 10-hour, large-scale training execution.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(Backend &amp; 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Python: The core programming language.</a:t>
            </a:r>
          </a:p>
          <a:p>
            <a:pPr lvl="1"/>
            <a:r>
              <a:t>Flask: A lightweight, fast web framework.</a:t>
            </a:r>
          </a:p>
          <a:p>
            <a:pPr lvl="1"/>
            <a:r>
              <a:t>TensorFlow / Keras: Framework used to build and train the neural networks.</a:t>
            </a:r>
          </a:p>
          <a:p>
            <a:pPr lvl="1"/>
            <a:r>
              <a:t>OpenCV (cv2): Computer vision library used for reading video frames and detecting faces via Haar Cascades.</a:t>
            </a:r>
          </a:p>
          <a:p>
            <a:pPr lvl="1"/>
            <a:r>
              <a:t>NumPy: Handles N-dimensional arrays smoothly.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Deep Learning Architecture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1"/>
            <a:r>
              <a:rPr lang="en-US"/>
              <a:t>EfficientNetB0 (Base): Chosen for optimal accuracy-efficiency trade-off; acts as our spatial feature extractor.</a:t>
            </a:r>
          </a:p>
          <a:p>
            <a:pPr lvl="1"/>
            <a:r>
              <a:rPr lang="en-US"/>
              <a:t>TimeDistributed Layer: Allows EfficientNet to process each frame independently across time.</a:t>
            </a:r>
          </a:p>
          <a:p>
            <a:pPr lvl="1"/>
            <a:r>
              <a:rPr lang="en-US"/>
              <a:t>Bidirectional LSTM: Analyzes temporal patterns forwards and backwards to detect unnatural movements or flickering.</a:t>
            </a:r>
          </a:p>
          <a:p>
            <a:pPr lvl="1"/>
            <a:r>
              <a:rPr lang="en-US"/>
              <a:t>Custom Attention Layer: Dynamically weights the importance of specific frames where deepfake artifacts are prominent.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Working Flow (Input to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IN"/>
              <a:t>1. User Uploads video to frontend.</a:t>
            </a:r>
          </a:p>
          <a:p>
            <a:r>
              <a:rPr lang="en-IN"/>
              <a:t>2. Transmitted via HTTP to Flask Backend.</a:t>
            </a:r>
          </a:p>
          <a:p>
            <a:r>
              <a:rPr lang="en-IN"/>
              <a:t>3. Server extracts 20 distinct frames via OpenCV.</a:t>
            </a:r>
          </a:p>
          <a:p>
            <a:r>
              <a:rPr lang="en-IN"/>
              <a:t>4. Haar Cascades crops out faces, normalizing colors.</a:t>
            </a:r>
          </a:p>
          <a:p>
            <a:r>
              <a:rPr lang="en-IN"/>
              <a:t>5. EfficientNet + LSTM analyzes frame sequence.</a:t>
            </a:r>
          </a:p>
          <a:p>
            <a:r>
              <a:rPr lang="en-IN"/>
              <a:t>6. Network emits probability score [0.0 - 1.0].</a:t>
            </a:r>
          </a:p>
          <a:p>
            <a:r>
              <a:rPr lang="en-IN"/>
              <a:t>7. Frontend receives JSON Result and maps score to UI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Output Accuracy: The system provides robust binary classification (Real/Fake) distinguishing high-quality deepfakes from genuine videos.</a:t>
            </a:r>
          </a:p>
          <a:p>
            <a:pPr lvl="1"/>
            <a:r>
              <a:t>Precise Confidence Scores: Accurately reflects algorithmic uncertainty (e.g., 94.5%).</a:t>
            </a:r>
          </a:p>
          <a:p>
            <a:pPr lvl="1"/>
            <a:r>
              <a:t>Speed Optimization: By migrating to EfficientNet and Haar Cascades, inference is achieved in merely a few seconds on arbitrary hardware.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Output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During the execution, the frontend establishes clear states:</a:t>
            </a:r>
          </a:p>
          <a:p>
            <a:pPr lvl="1"/>
            <a:r>
              <a:t>Seamless Cyberpunk-Themed UI Dropzone.</a:t>
            </a:r>
          </a:p>
          <a:p>
            <a:pPr lvl="1"/>
            <a:r>
              <a:t>Animated Processing Sequence informing the user.</a:t>
            </a:r>
          </a:p>
          <a:p>
            <a:pPr lvl="1"/>
            <a:r>
              <a:t>Definitive Output Screen (Color-coded Red for Fake, Green for Real) rendering a visual progress bar indicating AI Confidence.</a:t>
            </a:r>
          </a:p>
          <a:p>
            <a:pPr lvl="1"/>
            <a:r>
              <a:t>Robust server logs capturing prediction mechanics and confidence metric precision.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Data Scarcity &amp; Imbalance: Acquiring high-fidelity diverse deepfake variations against matched real variants.</a:t>
            </a:r>
          </a:p>
          <a:p>
            <a:pPr lvl="1"/>
            <a:r>
              <a:t>System Resource Constraint: Holding simultaneous sequential 20-frame high-resolution sets caused severe memory exhaustion.</a:t>
            </a:r>
          </a:p>
          <a:p>
            <a:pPr lvl="1"/>
            <a:r>
              <a:t>Preprocessing Bottleneck: Initial MTCNN architectures stalled inference times to minutes.</a:t>
            </a:r>
          </a:p>
          <a:p>
            <a:pPr lvl="1"/>
            <a:r>
              <a:t>Acute Overfitting: Complex RNN parameters effectively memorized training sets but failed robust generalization.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1"/>
            <a:r>
              <a:rPr lang="en-IN"/>
              <a:t>Offline Processing: Persisting data as .npy blobs to permanently sidestep realtime RAM saturation during epochs.</a:t>
            </a:r>
          </a:p>
          <a:p>
            <a:pPr lvl="1"/>
            <a:r>
              <a:rPr lang="en-IN"/>
              <a:t>Haar Cascade Paradigm: Deprecated MTCNN for optimized OpenCV detectors achieving 10x frame discovery acceleration.</a:t>
            </a:r>
          </a:p>
          <a:p>
            <a:pPr lvl="1"/>
            <a:r>
              <a:rPr lang="en-IN"/>
              <a:t>Advanced Regularization Framework: Stacked SpatialDropout1D modules, embedded severe L2 Kernels, applied 0.2 Label Smoothing.</a:t>
            </a:r>
          </a:p>
          <a:p>
            <a:pPr lvl="1"/>
            <a:r>
              <a:rPr lang="en-IN"/>
              <a:t>Base Model Rotation: Substituted Xception for EfficientNetB0 for superior convergence paradigms.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rPr lang="en-US"/>
              <a:t>Successfully demonstrated the union of spatial vision feature extraction combined closely with recurrent sequential assessment algorithms.</a:t>
            </a:r>
          </a:p>
          <a:p>
            <a:pPr lvl="1"/>
            <a:r>
              <a:rPr lang="en-US"/>
              <a:t>Flask and React segregation ensures immediate microservice scalability capabilities for future integrations.</a:t>
            </a:r>
          </a:p>
          <a:p>
            <a:pPr lvl="1"/>
            <a:r>
              <a:rPr lang="en-US"/>
              <a:t>Final UI masks the sheer complexity of spatial inference architecture under a simplified intuitive presentation paradigm.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lvl="1"/>
            <a:r>
              <a:rPr lang="en-IN"/>
              <a:t>Audio-Visual Synthesis Detection: Integration of Wav2Vec models paralleled with the visual pipeline.</a:t>
            </a:r>
          </a:p>
          <a:p>
            <a:pPr lvl="1"/>
            <a:r>
              <a:rPr lang="en-IN"/>
              <a:t>Native Cloud Implementations: Dockerized hosting over AWS SageMaker for elastic computational resourcing targeting real-time execution.</a:t>
            </a:r>
          </a:p>
          <a:p>
            <a:pPr lvl="1"/>
            <a:r>
              <a:rPr lang="en-IN"/>
              <a:t>Next Generation Architectures: Migration pathways toward complete Video Vision Transformers (ViViT).</a:t>
            </a:r>
          </a:p>
          <a:p>
            <a:pPr lvl="1"/>
            <a:r>
              <a:rPr lang="en-IN"/>
              <a:t>Expanded Explainability Maps: Grad-CAM overlay projections demonstrating frame-wise artifact triggers.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Thank you for your time.</a:t>
            </a:r>
          </a:p>
          <a:p>
            <a:r>
              <a:t>Are there any questions regarding the architecture, the training process, or the frontend implementation?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2025</Words>
  <Application>Microsoft Office PowerPoint</Application>
  <PresentationFormat>On-screen Show (4:3)</PresentationFormat>
  <Paragraphs>149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Calibri</vt:lpstr>
      <vt:lpstr>Calibri Light</vt:lpstr>
      <vt:lpstr>Retrospect</vt:lpstr>
      <vt:lpstr>Deepfake Video Detection System</vt:lpstr>
      <vt:lpstr>Project Overview</vt:lpstr>
      <vt:lpstr>Problem Statement</vt:lpstr>
      <vt:lpstr>Why This Project is Needed</vt:lpstr>
      <vt:lpstr>Frontend Explanation</vt:lpstr>
      <vt:lpstr>Why Those Frontend Technologies Were Chosen</vt:lpstr>
      <vt:lpstr>How the Frontend Works</vt:lpstr>
      <vt:lpstr>User Interface Flow</vt:lpstr>
      <vt:lpstr>Backend Detailed Explanation Overview</vt:lpstr>
      <vt:lpstr>Backend File: app.py</vt:lpstr>
      <vt:lpstr>Backend File: config.py</vt:lpstr>
      <vt:lpstr>Backend File: debug_files.py &amp; debug_mtcnn.py</vt:lpstr>
      <vt:lpstr>Backend File: model_utils.py</vt:lpstr>
      <vt:lpstr>Backend File: preprocess.py</vt:lpstr>
      <vt:lpstr>Backend File: preprocess_dataset.py</vt:lpstr>
      <vt:lpstr>Backend File: train.py</vt:lpstr>
      <vt:lpstr>Backend File: test_generator.py</vt:lpstr>
      <vt:lpstr>Technologies Used (Backend &amp; ML)</vt:lpstr>
      <vt:lpstr>Deep Learning Architecture Selection</vt:lpstr>
      <vt:lpstr>Project Working Flow (Input to Output)</vt:lpstr>
      <vt:lpstr>Results Achieved</vt:lpstr>
      <vt:lpstr>Visual Output of the Project</vt:lpstr>
      <vt:lpstr>Challenges Faced</vt:lpstr>
      <vt:lpstr>Solutions Implemented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ajul mk</cp:lastModifiedBy>
  <cp:revision>2</cp:revision>
  <dcterms:created xsi:type="dcterms:W3CDTF">2013-01-27T09:14:16Z</dcterms:created>
  <dcterms:modified xsi:type="dcterms:W3CDTF">2026-03-11T07:41:38Z</dcterms:modified>
  <cp:category/>
</cp:coreProperties>
</file>